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7B9C"/>
    <a:srgbClr val="C28E3C"/>
    <a:srgbClr val="6B8E5C"/>
    <a:srgbClr val="8B7BAC"/>
    <a:srgbClr val="1F1E1D"/>
    <a:srgbClr val="CC785C"/>
    <a:srgbClr val="F6F3F2"/>
    <a:srgbClr val="D5D0C8"/>
    <a:srgbClr val="E9E4DF"/>
    <a:srgbClr val="1F1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5F1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5F1ED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5C56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5F1ED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FB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FB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FB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FBF9F6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E8E4DF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E8E4DF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5C7B9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6B8E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C28E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E8E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91554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8964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hdr="0"/>
  <p:txStyles>
    <p:titleStyle>
      <a:lvl1pPr marL="0" indent="0" algn="l">
        <a:buNone/>
        <a:defRPr sz="3000">
          <a:solidFill>
            <a:srgbClr val="1F1E1D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1F1E1D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5C5650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5C5650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5C5650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Reiser Warm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0">
                <a:solidFill>
                  <a:srgbClr val="FFFFFF"/>
                </a:solidFill>
                <a:latin typeface="Arial"/>
                <a:ea typeface="微軟正黑體"/>
              </a:rPr>
              <a:t>Layout catalogue · 19 named layouts · 1440 × 810 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Text Placeholder 2 · 72,230 · 399×54pt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3 · 520,230 · 399×54pt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[41] Text Placeholder 4 · 968,230 · 399×54pt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[2] Text Placeholder 1 · 56,300 · 120×60pt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Divider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3 · 56,470 · 797×50pt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[1] Text Placeholder 2 · 56,172 · 1328×520pt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Two-Column Compare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Text Placeholder 2 · 72,230 · 624×448pt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3 · 744,230 · 624×448pt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Number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Text Placeholder 2 · 56,212 · 611×200pt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[41] Text Placeholder 3 · 56,422 · 611×30pt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4 · 773,212 · 611×280pt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Text Placeholder 2 · 72,194 · 287×74pt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[14] Text Placeholder 3 · 72,280 · 287×26pt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[18] Text Placeholder 4 · 72,312 · 287×44pt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5 · 408,194 · 287×74pt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[15] Text Placeholder 6 · 408,280 · 287×26pt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[19] Text Placeholder 7 · 408,312 · 287×44pt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[41] Text Placeholder 8 · 744,194 · 287×74pt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[16] Text Placeholder 9 · 744,280 · 287×26pt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[20] Text Placeholder 10 · 744,312 · 287×44pt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[13] Text Placeholder 11 · 1080,194 · 287×74pt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[17] Text Placeholder 12 · 1080,280 · 287×26pt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[21] Text Placeholder 13 · 1080,312 · 287×44pt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[30] Text Placeholder 14 · 72,720 · 1296×30pt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with Takeaway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Chart Placeholder 2 · 56,172 · 1328×424pt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3 · 72,618 · 1296×30pt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+ Commentary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Chart Placeholder 2 · 56,172 · 823×490pt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3 · 912,224 · 456×420pt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Table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Table Placeholder 2 · 56,172 · 1328×480pt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 Frame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0"/>
          </p:nvPr>
        </p:nvSpPr>
        <p:spPr/>
        <p:txBody>
          <a:bodyPr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SmartArt Placeholder 2 · 72,188 · 1296×428pt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3 · 56,646 · 1328×34pt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  <p:txBody>
          <a:bodyPr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Picture Placeholder 2 · 56,172 · 770×520pt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3 · 859,172 · 525×480pt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Text Placeholder 2 · 162,188 · 208×208pt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3 · 402,188 · 208×208pt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[41] Text Placeholder 4 · 162,428 · 208×208pt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[13] Text Placeholder 5 · 402,428 · 208×208pt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Text Placeholder 2 · 72,220 · 624×190pt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3 · 744,220 · 624×190pt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[41] Text Placeholder 4 · 72,488 · 624×190pt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[13] Text Placeholder 5 · 744,488 · 624×190pt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Text Placeholder 2 · 72,184 · 398×30pt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3 · 508,184 · 823×95pt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[41] Text Placeholder 4 · 72,309 · 398×30pt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[13] Text Placeholder 5 · 508,309 · 823×95pt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[14] Text Placeholder 6 · 72,434 · 398×30pt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[15] Text Placeholder 7 · 508,434 · 823×95pt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[16] Text Placeholder 8 · 72,559 · 398×30pt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[17] Text Placeholder 9 · 508,559 · 823×95pt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Table Placeholder 2 · 56,210 · 1328×264pt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[10] Text Placeholder 1 · 126,290 · 1188×200pt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5C5650"/>
                </a:solidFill>
                <a:latin typeface="Arial"/>
                <a:ea typeface="微軟正黑體"/>
              </a:rPr>
              <a:t>[11] Text Placeholder 2 · 126,545 · 1188×40pt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5C5650"/>
                </a:solidFill>
                <a:latin typeface="Arial"/>
              </a:rPr>
              <a:t>Quote  — no title placeholder; free canvas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5C5650"/>
                </a:solidFill>
                <a:latin typeface="Arial"/>
              </a:rPr>
              <a:t>Blank  — no title placeholder; free canvas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2 · 56,400 · 930×200pt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CC785C"/>
                </a:solidFill>
                <a:latin typeface="Arial"/>
                <a:ea typeface="微軟正黑體"/>
              </a:rPr>
              <a:t>色彩 ·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  <a:ea typeface="微軟正黑體"/>
              </a:rPr>
              <a:t>Palette — 60 / 30 / 10 by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C5650"/>
                </a:solidFill>
                <a:latin typeface="Arial"/>
                <a:ea typeface="微軟正黑體"/>
              </a:rPr>
              <a:t>60%  · 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4083050" cy="762000"/>
          </a:xfrm>
          <a:prstGeom prst="rect">
            <a:avLst/>
          </a:prstGeom>
          <a:solidFill>
            <a:srgbClr val="F5F1ED"/>
          </a:solidFill>
          <a:ln w="9525">
            <a:solidFill>
              <a:srgbClr val="5C5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429000"/>
            <a:ext cx="40830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warm cream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6576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#F5F1ED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8608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RGB  245  241  237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40640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2050" y="2590800"/>
            <a:ext cx="4083050" cy="762000"/>
          </a:xfrm>
          <a:prstGeom prst="rect">
            <a:avLst/>
          </a:prstGeom>
          <a:solidFill>
            <a:srgbClr val="FBF9F6"/>
          </a:solidFill>
          <a:ln w="9525">
            <a:solidFill>
              <a:srgbClr val="5C5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72050" y="3429000"/>
            <a:ext cx="40830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cool white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36576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#FBF9F6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2050" y="38608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RGB  251  249  246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2050" y="40640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1.07 :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2900" y="2590800"/>
            <a:ext cx="4083050" cy="762000"/>
          </a:xfrm>
          <a:prstGeom prst="rect">
            <a:avLst/>
          </a:prstGeom>
          <a:solidFill>
            <a:srgbClr val="E8E4DF"/>
          </a:solidFill>
          <a:ln w="9525">
            <a:solidFill>
              <a:srgbClr val="5C5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2900" y="3429000"/>
            <a:ext cx="40830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warm grey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2900" y="36576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#E8E4DF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2900" y="38608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RGB  232  228  223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2900" y="40640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1.13 :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493750" y="2590800"/>
            <a:ext cx="4083050" cy="762000"/>
          </a:xfrm>
          <a:prstGeom prst="rect">
            <a:avLst/>
          </a:prstGeom>
          <a:solidFill>
            <a:srgbClr val="D4D0C9"/>
          </a:solidFill>
          <a:ln w="9525">
            <a:solidFill>
              <a:srgbClr val="5C5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493750" y="3429000"/>
            <a:ext cx="40830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93750" y="36576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#D4D0C9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93750" y="38608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RGB  212  208  201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93750" y="40640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1.37 :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44958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C5650"/>
                </a:solidFill>
                <a:latin typeface="Arial"/>
                <a:ea typeface="微軟正黑體"/>
              </a:rPr>
              <a:t>30%  ·  THE SUPPORTING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200" y="4826000"/>
            <a:ext cx="5503333" cy="762000"/>
          </a:xfrm>
          <a:prstGeom prst="rect">
            <a:avLst/>
          </a:prstGeom>
          <a:solidFill>
            <a:srgbClr val="1F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200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charcoal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#1F1E1D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RGB  31  30  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14.81 :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92333" y="4826000"/>
            <a:ext cx="5503333" cy="762000"/>
          </a:xfrm>
          <a:prstGeom prst="rect">
            <a:avLst/>
          </a:prstGeom>
          <a:solidFill>
            <a:srgbClr val="5C5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2333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muted 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2333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#5C5650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2333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RGB  92  86  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2333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6.44 :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73466" y="4826000"/>
            <a:ext cx="5503333" cy="762000"/>
          </a:xfrm>
          <a:prstGeom prst="rect">
            <a:avLst/>
          </a:prstGeom>
          <a:solidFill>
            <a:srgbClr val="B3C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3466" y="5664200"/>
            <a:ext cx="5503333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sage mist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73466" y="58928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#B3CBC1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3466" y="60960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RGB  179  203  193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73466" y="6299200"/>
            <a:ext cx="55033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1.53 :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200" y="6731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C5650"/>
                </a:solidFill>
                <a:latin typeface="Arial"/>
                <a:ea typeface="微軟正黑體"/>
              </a:rPr>
              <a:t>10%  ·  THE ACCENT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1200" y="7061200"/>
            <a:ext cx="8343900" cy="762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1200" y="78994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coral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200" y="8128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#CC785C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200" y="8331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RGB  204  120  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85344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2.92 :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2900" y="7061200"/>
            <a:ext cx="8343900" cy="762000"/>
          </a:xfrm>
          <a:prstGeom prst="rect">
            <a:avLst/>
          </a:prstGeom>
          <a:solidFill>
            <a:srgbClr val="915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2900" y="78994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coral deep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2900" y="8128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#915542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2900" y="8331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RGB  145  85  66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2900" y="85344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C5650"/>
                </a:solidFill>
                <a:latin typeface="Arial"/>
                <a:ea typeface="微軟正黑體"/>
              </a:rPr>
              <a:t>5.22 :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CC785C"/>
                </a:solidFill>
                <a:latin typeface="Arial"/>
                <a:ea typeface="微軟正黑體"/>
              </a:rPr>
              <a:t>字體 ·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1E1D"/>
                </a:solidFill>
                <a:latin typeface="Arial"/>
                <a:ea typeface="微軟正黑體"/>
              </a:rPr>
              <a:t>Chart series, and type that survives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C5650"/>
                </a:solidFill>
                <a:latin typeface="Arial"/>
                <a:ea typeface="微軟正黑體"/>
              </a:rPr>
              <a:t>CHART SERIES,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3251200" cy="558800"/>
          </a:xfrm>
          <a:prstGeom prst="rect">
            <a:avLst/>
          </a:prstGeom>
          <a:solidFill>
            <a:srgbClr val="5C7B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1E1D"/>
                </a:solidFill>
                <a:latin typeface="Arial"/>
                <a:ea typeface="微軟正黑體"/>
              </a:rPr>
              <a:t>cat 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#5C7B9C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RGB  92  123  156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590800"/>
            <a:ext cx="3251200" cy="558800"/>
          </a:xfrm>
          <a:prstGeom prst="rect">
            <a:avLst/>
          </a:prstGeom>
          <a:solidFill>
            <a:srgbClr val="6B8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1E1D"/>
                </a:solidFill>
                <a:latin typeface="Arial"/>
                <a:ea typeface="微軟正黑體"/>
              </a:rPr>
              <a:t>cat 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#6B8E5C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RGB  107  142  92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8400" y="2590800"/>
            <a:ext cx="3251200" cy="558800"/>
          </a:xfrm>
          <a:prstGeom prst="rect">
            <a:avLst/>
          </a:prstGeom>
          <a:solidFill>
            <a:srgbClr val="C28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84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1E1D"/>
                </a:solidFill>
                <a:latin typeface="Arial"/>
                <a:ea typeface="微軟正黑體"/>
              </a:rPr>
              <a:t>cat 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84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#C28E3D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84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RGB  194  142  61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2000" y="2590800"/>
            <a:ext cx="3251200" cy="558800"/>
          </a:xfrm>
          <a:prstGeom prst="rect">
            <a:avLst/>
          </a:prstGeom>
          <a:solidFill>
            <a:srgbClr val="8B7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20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1E1D"/>
                </a:solidFill>
                <a:latin typeface="Arial"/>
                <a:ea typeface="微軟正黑體"/>
              </a:rPr>
              <a:t>cat violet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20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#8B7BAB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RGB  139  123  171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325600" y="2590800"/>
            <a:ext cx="3251200" cy="558800"/>
          </a:xfrm>
          <a:prstGeom prst="rect">
            <a:avLst/>
          </a:prstGeom>
          <a:solidFill>
            <a:srgbClr val="5C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25600" y="32258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1E1D"/>
                </a:solidFill>
                <a:latin typeface="Arial"/>
                <a:ea typeface="微軟正黑體"/>
              </a:rPr>
              <a:t>cat teal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25600" y="34290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#5C9C8E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25600" y="3632200"/>
            <a:ext cx="32512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C5650"/>
                </a:solidFill>
                <a:latin typeface="Arial"/>
                <a:ea typeface="微軟正黑體"/>
              </a:rPr>
              <a:t>RGB  92  156  142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4445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5C5650"/>
                </a:solidFill>
                <a:latin typeface="Arial"/>
                <a:ea typeface="微軟正黑體"/>
              </a:rPr>
              <a:t>TYPE — WINDOWS · MACOS ·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200" y="47752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785C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5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785C"/>
                </a:solidFill>
                <a:latin typeface="Arial"/>
                <a:ea typeface="微軟正黑體"/>
              </a:rPr>
              <a:t>Windows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785C"/>
                </a:solidFill>
                <a:latin typeface="Arial"/>
                <a:ea typeface="微軟正黑體"/>
              </a:rPr>
              <a:t>macOS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785C"/>
                </a:solidFill>
                <a:latin typeface="Arial"/>
                <a:ea typeface="微軟正黑體"/>
              </a:rPr>
              <a:t>Web font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CC785C"/>
                </a:solidFill>
                <a:latin typeface="Arial"/>
                <a:ea typeface="微軟正黑體"/>
              </a:rPr>
              <a:t>CSS stack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200" y="5105400"/>
            <a:ext cx="16865600" cy="9525"/>
          </a:xfrm>
          <a:prstGeom prst="rect">
            <a:avLst/>
          </a:prstGeom>
          <a:solidFill>
            <a:srgbClr val="5C5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200" y="5181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Latin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5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3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1200" y="5181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3200" y="51816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Arial, Helvetica, "Liberation Sans", sans-serif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200" y="5537200"/>
            <a:ext cx="16865600" cy="9525"/>
          </a:xfrm>
          <a:prstGeom prst="rect">
            <a:avLst/>
          </a:prstGeom>
          <a:solidFill>
            <a:srgbClr val="5C5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200" y="5613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中文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5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微軟正黑體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3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PingFang TC 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1200" y="5613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3200" y="56134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"PingFang TC", "Microsoft JhengHei", "Noto Sans TC", sans-serif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1200" y="5969000"/>
            <a:ext cx="16865600" cy="9525"/>
          </a:xfrm>
          <a:prstGeom prst="rect">
            <a:avLst/>
          </a:prstGeom>
          <a:solidFill>
            <a:srgbClr val="5C5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200" y="60452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1E1D"/>
                </a:solidFill>
                <a:latin typeface="Arial"/>
                <a:ea typeface="微軟正黑體"/>
              </a:rPr>
              <a:t>Mono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5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Consolas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13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Menlo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1200" y="60452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23200" y="60452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5650"/>
                </a:solidFill>
                <a:latin typeface="Arial"/>
                <a:ea typeface="微軟正黑體"/>
              </a:rPr>
              <a:t>Consolas, Menlo, "SF Mono", ui-monospace, monospace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6654800"/>
            <a:ext cx="168656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C5650"/>
                </a:solidFill>
                <a:latin typeface="Arial"/>
                <a:ea typeface="微軟正黑體"/>
              </a:rPr>
              <a:t>*  微軟正黑體 ships with Windows only. macOS substitutes — PingFang TC is the close equivalent, Heiti TC on older systems — and no browser has it, so the web stack leads with PingFang TC and falls back to Noto Sans TC. A .pptx run carries exactly one latin face and one east-asian face, with no fallback list: this deck sets latin=Arial, ea=微軟正黑體, and PowerPoint on macOS does the substitution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iser Warm">
  <a:themeElements>
    <a:clrScheme name="Reiser Warm">
      <a:dk1>
        <a:srgbClr val="1F1E1D"/>
      </a:dk1>
      <a:lt1>
        <a:srgbClr val="F5F1ED"/>
      </a:lt1>
      <a:dk2>
        <a:srgbClr val="5C5650"/>
      </a:dk2>
      <a:lt2>
        <a:srgbClr val="E8E4DF"/>
      </a:lt2>
      <a:accent1>
        <a:srgbClr val="CC785C"/>
      </a:accent1>
      <a:accent2>
        <a:srgbClr val="5C7B9C"/>
      </a:accent2>
      <a:accent3>
        <a:srgbClr val="6B8E5C"/>
      </a:accent3>
      <a:accent4>
        <a:srgbClr val="C28E3D"/>
      </a:accent4>
      <a:accent5>
        <a:srgbClr val="8B7BAB"/>
      </a:accent5>
      <a:accent6>
        <a:srgbClr val="5C9C8E"/>
      </a:accent6>
      <a:hlink>
        <a:srgbClr val="915542"/>
      </a:hlink>
      <a:folHlink>
        <a:srgbClr val="5C5650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pandi linear_Copilot Layouts_win32_SD_V13" id="{1A98D2ED-8D8F-4042-89AC-2EE345497259}" vid="{2E77DE8A-CCF8-42DD-89D0-20AB94D79F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Custom</PresentationFormat>
  <Paragraphs>1</Paragraphs>
  <Slides>2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Reiser Warm template</dc:title>
  <dc:creator>house-style</dc:creator>
  <cp:lastModifiedBy>house-style</cp:lastModifiedBy>
  <cp:revision>1</cp:revision>
</cp:coreProperties>
</file>